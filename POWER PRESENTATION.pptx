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j/7Qou42vKSoaMHwIAkyT8cDQB7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customschemas.google.com/relationships/presentationmetadata" Target="metadata"/><Relationship Id="rId25" Type="http://schemas.openxmlformats.org/officeDocument/2006/relationships/slide" Target="slides/slide2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4" name="Google Shape;24;p2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5" name="Google Shape;25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2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2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2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08156" y="481781"/>
            <a:ext cx="7403690" cy="28415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ZOMATO</a:t>
            </a:r>
            <a:r>
              <a:rPr b="1" lang="en-US" sz="4400">
                <a:latin typeface="Calibri"/>
                <a:ea typeface="Calibri"/>
                <a:cs typeface="Calibri"/>
                <a:sym typeface="Calibri"/>
              </a:rPr>
              <a:t> RESTAURANTS GROWTH INSIGHTS</a:t>
            </a:r>
            <a:br>
              <a:rPr b="1" lang="en-US" sz="44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A STRATEGIC ANALYSIS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-352162" y="4080386"/>
            <a:ext cx="8267130" cy="1177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BY SAURABH SHARMA</a:t>
            </a:r>
            <a:endParaRPr/>
          </a:p>
        </p:txBody>
      </p:sp>
      <p:pic>
        <p:nvPicPr>
          <p:cNvPr descr="Zomato| Upto 3% Cashback | E-Gift Card | Instant Delivery | Valid for ..." id="90" name="Google Shape;90;p1"/>
          <p:cNvPicPr preferRelativeResize="0"/>
          <p:nvPr>
            <p:ph idx="4294967295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351" y="0"/>
            <a:ext cx="5415773" cy="68579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" name="Google Shape;91;p1"/>
          <p:cNvCxnSpPr/>
          <p:nvPr/>
        </p:nvCxnSpPr>
        <p:spPr>
          <a:xfrm>
            <a:off x="1189703" y="3834581"/>
            <a:ext cx="4807974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>
            <p:ph type="title"/>
          </p:nvPr>
        </p:nvSpPr>
        <p:spPr>
          <a:xfrm>
            <a:off x="839788" y="412956"/>
            <a:ext cx="7694612" cy="13863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n-US" sz="4000">
                <a:latin typeface="Calibri"/>
                <a:ea typeface="Calibri"/>
                <a:cs typeface="Calibri"/>
                <a:sym typeface="Calibri"/>
              </a:rPr>
              <a:t>HOW IT WORKS </a:t>
            </a:r>
            <a:endParaRPr/>
          </a:p>
        </p:txBody>
      </p:sp>
      <p:sp>
        <p:nvSpPr>
          <p:cNvPr id="97" name="Google Shape;97;p2"/>
          <p:cNvSpPr txBox="1"/>
          <p:nvPr>
            <p:ph idx="2" type="body"/>
          </p:nvPr>
        </p:nvSpPr>
        <p:spPr>
          <a:xfrm>
            <a:off x="839788" y="1976284"/>
            <a:ext cx="5256212" cy="3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/>
              <a:t>Step 1 – Customer Places Order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/>
              <a:t>Step 2 – Restaurant Accepts &amp; Prepares Order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/>
              <a:t>Step 3 – Zomato Assigns Delivery Partner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/>
              <a:t>Step 4 – Delivery Partner Reaches Restaurant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/>
              <a:t>Step 5 – Order Picked Up &amp; Delivered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</p:txBody>
      </p:sp>
      <p:pic>
        <p:nvPicPr>
          <p:cNvPr id="98" name="Google Shape;98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1502" y="741618"/>
            <a:ext cx="4979804" cy="487362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/>
          <p:nvPr>
            <p:ph type="title"/>
          </p:nvPr>
        </p:nvSpPr>
        <p:spPr>
          <a:xfrm>
            <a:off x="3667432" y="550607"/>
            <a:ext cx="7680018" cy="10422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AGENDA</a:t>
            </a:r>
            <a:endParaRPr/>
          </a:p>
        </p:txBody>
      </p:sp>
      <p:sp>
        <p:nvSpPr>
          <p:cNvPr id="104" name="Google Shape;104;p3"/>
          <p:cNvSpPr txBox="1"/>
          <p:nvPr>
            <p:ph idx="1" type="body"/>
          </p:nvPr>
        </p:nvSpPr>
        <p:spPr>
          <a:xfrm>
            <a:off x="831850" y="2123769"/>
            <a:ext cx="10515600" cy="396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</a:rPr>
              <a:t>1.PROBLEM STATEMENT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</a:rPr>
              <a:t>2.OBJECTIVE OF PROJECT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</a:rPr>
              <a:t>3.DATA OVERVIEW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</a:rPr>
              <a:t>4.METHODOLOGY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</a:rPr>
              <a:t>5.ANALYTICAL INSIGHTS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</a:rPr>
              <a:t>6.DASHBOARD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</a:rPr>
              <a:t>7.EFFECTIVE RECOMMENDATIONS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</a:rPr>
              <a:t>8.FINAL OUTCOMES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/>
          <p:nvPr>
            <p:ph type="title"/>
          </p:nvPr>
        </p:nvSpPr>
        <p:spPr>
          <a:xfrm>
            <a:off x="1647324" y="365125"/>
            <a:ext cx="86355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                </a:t>
            </a:r>
            <a:r>
              <a:rPr b="1" lang="en-US"/>
              <a:t>PROBLEM   STATEMENT </a:t>
            </a:r>
            <a:endParaRPr/>
          </a:p>
        </p:txBody>
      </p:sp>
      <p:pic>
        <p:nvPicPr>
          <p:cNvPr id="110" name="Google Shape;110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379" y="1524000"/>
            <a:ext cx="11911473" cy="4798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/>
          <p:nvPr>
            <p:ph type="title"/>
          </p:nvPr>
        </p:nvSpPr>
        <p:spPr>
          <a:xfrm>
            <a:off x="727590" y="424119"/>
            <a:ext cx="1078352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OBJECTIVE OF PROJECT</a:t>
            </a:r>
            <a:endParaRPr/>
          </a:p>
        </p:txBody>
      </p:sp>
      <p:sp>
        <p:nvSpPr>
          <p:cNvPr id="117" name="Google Shape;117;p5"/>
          <p:cNvSpPr txBox="1"/>
          <p:nvPr/>
        </p:nvSpPr>
        <p:spPr>
          <a:xfrm>
            <a:off x="570271" y="1858297"/>
            <a:ext cx="10783527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objective of this project is to analyze Zomato’s restaurant data to identify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potential countries and cities for business expansion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using data-driven insights.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project focuses on understanding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market trends, customer preferences, pricing behavior, and service adoption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provide actionable recommendations for strategic restaurant openings.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Sub-objectives: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determine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countries with high growth potential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low competition.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analyze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customer ratings, votes, and cuisines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better decision-making.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evaluate the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impact of services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like online delivery and table booking on customer satisfaction.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identify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profitable pricing patterns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compare cost vs rating.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develop a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data-driven strategy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Zomato’s global market expansion.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/>
          <p:nvPr>
            <p:ph type="title"/>
          </p:nvPr>
        </p:nvSpPr>
        <p:spPr>
          <a:xfrm>
            <a:off x="481780" y="365126"/>
            <a:ext cx="10872020" cy="755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DATA</a:t>
            </a:r>
            <a:r>
              <a:rPr lang="en-US"/>
              <a:t> </a:t>
            </a: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OVERVIEW</a:t>
            </a:r>
            <a:endParaRPr/>
          </a:p>
        </p:txBody>
      </p:sp>
      <p:sp>
        <p:nvSpPr>
          <p:cNvPr id="123" name="Google Shape;123;p6"/>
          <p:cNvSpPr txBox="1"/>
          <p:nvPr>
            <p:ph idx="1" type="body"/>
          </p:nvPr>
        </p:nvSpPr>
        <p:spPr>
          <a:xfrm>
            <a:off x="481780" y="1258528"/>
            <a:ext cx="11484078" cy="4847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 </a:t>
            </a:r>
            <a:r>
              <a:rPr b="1" lang="en-US" sz="4500"/>
              <a:t>Dataset Summary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300"/>
              <a:t>Contains </a:t>
            </a:r>
            <a:r>
              <a:rPr b="1" lang="en-US" sz="3300"/>
              <a:t>9,551 restaurant records</a:t>
            </a:r>
            <a:r>
              <a:rPr lang="en-US" sz="3300"/>
              <a:t> across </a:t>
            </a:r>
            <a:r>
              <a:rPr b="1" lang="en-US" sz="3300"/>
              <a:t>15+ countries</a:t>
            </a:r>
            <a:r>
              <a:rPr lang="en-US" sz="3300"/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300"/>
              <a:t>Covers data from </a:t>
            </a:r>
            <a:r>
              <a:rPr b="1" lang="en-US" sz="3300"/>
              <a:t>India, USA, UK, Canada, Qatar, Singapore</a:t>
            </a:r>
            <a:r>
              <a:rPr lang="en-US" sz="3300"/>
              <a:t>, etc.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300"/>
              <a:t>Includes </a:t>
            </a:r>
            <a:r>
              <a:rPr b="1" lang="en-US" sz="3300"/>
              <a:t>24 key attributes</a:t>
            </a:r>
            <a:r>
              <a:rPr lang="en-US" sz="3300"/>
              <a:t> for analysis.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 sz="4500"/>
              <a:t>Key Columns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3300"/>
              <a:t>Restaurant Details:</a:t>
            </a:r>
            <a:r>
              <a:rPr lang="en-US" sz="3300"/>
              <a:t> Name, ID, City, Country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3300"/>
              <a:t>Customer Insights:</a:t>
            </a:r>
            <a:r>
              <a:rPr lang="en-US" sz="3300"/>
              <a:t> Ratings, Votes, Cuisines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3300"/>
              <a:t>Financial Metrics:</a:t>
            </a:r>
            <a:r>
              <a:rPr lang="en-US" sz="3300"/>
              <a:t> Price Range, Average Cost for Two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3300"/>
              <a:t>Service Indicators:</a:t>
            </a:r>
            <a:r>
              <a:rPr lang="en-US" sz="3300"/>
              <a:t> Online Delivery, Table Booking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3300"/>
              <a:t>Geographical Data:</a:t>
            </a:r>
            <a:r>
              <a:rPr lang="en-US" sz="3300"/>
              <a:t> Latitude, Longitude for mapping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 sz="4500"/>
              <a:t> Key Insights from Data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3300"/>
              <a:t>India</a:t>
            </a:r>
            <a:r>
              <a:rPr lang="en-US" sz="3300"/>
              <a:t> dominates with </a:t>
            </a:r>
            <a:r>
              <a:rPr b="1" lang="en-US" sz="3300"/>
              <a:t>8,652 restaurants</a:t>
            </a:r>
            <a:r>
              <a:rPr lang="en-US" sz="3300"/>
              <a:t>, indicating market saturation.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3300"/>
              <a:t>Other countries</a:t>
            </a:r>
            <a:r>
              <a:rPr lang="en-US" sz="3300"/>
              <a:t> (like Canada, Qatar, Singapore) show </a:t>
            </a:r>
            <a:r>
              <a:rPr b="1" lang="en-US" sz="3300"/>
              <a:t>low competition</a:t>
            </a:r>
            <a:r>
              <a:rPr lang="en-US" sz="3300"/>
              <a:t>, ideal for expansion.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300"/>
              <a:t>The dataset enables analysis of </a:t>
            </a:r>
            <a:r>
              <a:rPr b="1" lang="en-US" sz="3300"/>
              <a:t>customer behavior, pricing, and performance trends</a:t>
            </a:r>
            <a:r>
              <a:rPr lang="en-US" sz="3300"/>
              <a:t>.</a:t>
            </a:r>
            <a:endParaRPr/>
          </a:p>
          <a:p>
            <a:pPr indent="-13081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 txBox="1"/>
          <p:nvPr>
            <p:ph type="title"/>
          </p:nvPr>
        </p:nvSpPr>
        <p:spPr>
          <a:xfrm>
            <a:off x="658760" y="365125"/>
            <a:ext cx="1069503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/>
          </a:p>
        </p:txBody>
      </p:sp>
      <p:sp>
        <p:nvSpPr>
          <p:cNvPr id="129" name="Google Shape;129;p7"/>
          <p:cNvSpPr txBox="1"/>
          <p:nvPr>
            <p:ph idx="1" type="body"/>
          </p:nvPr>
        </p:nvSpPr>
        <p:spPr>
          <a:xfrm>
            <a:off x="658760" y="1425677"/>
            <a:ext cx="10695039" cy="4839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Data Cleaning &amp; Preprocessing</a:t>
            </a:r>
            <a:r>
              <a:rPr lang="en-US" sz="1800"/>
              <a:t>:</a:t>
            </a:r>
            <a:endParaRPr b="1" sz="18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Removed duplicate records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Handled missing values in cost, votes, ratings 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Standardized country/city names and service fields (Online Delivery, Table Booking)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Converted average cost into numeric values for analysis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Techniques</a:t>
            </a:r>
            <a:r>
              <a:rPr lang="en-US" sz="1800"/>
              <a:t>: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Created Pivot Tables for country, city, cost, votes, and cuisines 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Designed charts (bar, line, pie) to visualize trends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Dashboard Creation </a:t>
            </a:r>
            <a:r>
              <a:rPr lang="en-US" sz="1800"/>
              <a:t>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Built interactive dashboard in Google Sheets with slicers for Year &amp; Country.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Insight Generation</a:t>
            </a:r>
            <a:r>
              <a:rPr lang="en-US" sz="1800"/>
              <a:t>: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Identified saturated vs. opportunity markets Correlated services (online delivery, table booking) with ratings.</a:t>
            </a:r>
            <a:endParaRPr sz="1800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Analytical Insights</a:t>
            </a:r>
            <a:endParaRPr/>
          </a:p>
        </p:txBody>
      </p:sp>
      <p:sp>
        <p:nvSpPr>
          <p:cNvPr id="135" name="Google Shape;135;p8"/>
          <p:cNvSpPr txBox="1"/>
          <p:nvPr>
            <p:ph idx="1" type="body"/>
          </p:nvPr>
        </p:nvSpPr>
        <p:spPr>
          <a:xfrm>
            <a:off x="838200" y="1815793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1.RESTAURANTS OPENED EACH YEAR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2.RESTAURANTS OPENED IN DIFFERENT COUNTRIES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3.AVERAGE NO. OF VOTES IN EACH COUNTRIES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4.SUGGESTED COUNTRIES TO OPEN RESTAURANTS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5.EXPENDITURE ON FOOD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6.TOP 10 CUISINES IN SUGGESTED COUNTRIES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7.</a:t>
            </a: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ANALYSIS OF ONLINE DELIVERY AND TABLE BOOKING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8.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 RATING AND COUNT OF SUGGESTED COUNTRIES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9. ANALYSIS OF PRICE RANGE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"/>
          <p:cNvSpPr txBox="1"/>
          <p:nvPr>
            <p:ph type="title"/>
          </p:nvPr>
        </p:nvSpPr>
        <p:spPr>
          <a:xfrm>
            <a:off x="570271" y="365125"/>
            <a:ext cx="1078352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RESTAURANTS OPENED EACH YEAR</a:t>
            </a:r>
            <a:endParaRPr/>
          </a:p>
        </p:txBody>
      </p:sp>
      <p:pic>
        <p:nvPicPr>
          <p:cNvPr id="141" name="Google Shape;141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81600" y="1767528"/>
            <a:ext cx="6742777" cy="4152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2" name="Google Shape;142;p9"/>
          <p:cNvSpPr txBox="1"/>
          <p:nvPr/>
        </p:nvSpPr>
        <p:spPr>
          <a:xfrm>
            <a:off x="267623" y="1907062"/>
            <a:ext cx="4913977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2010–2018, around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1,000 restaurants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opened each year.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Lowest in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2012 (1,022)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highest in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2018 (1,102)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Indicates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steady and consistent growth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Zomato’s expansion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REST</a:t>
            </a:r>
            <a:r>
              <a:rPr b="1" lang="en-US"/>
              <a:t>AU</a:t>
            </a: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RANTS OPENED IN DIFFERENT COUNTRIES</a:t>
            </a:r>
            <a:endParaRPr/>
          </a:p>
        </p:txBody>
      </p:sp>
      <p:sp>
        <p:nvSpPr>
          <p:cNvPr id="148" name="Google Shape;148;p10"/>
          <p:cNvSpPr txBox="1"/>
          <p:nvPr/>
        </p:nvSpPr>
        <p:spPr>
          <a:xfrm>
            <a:off x="619432" y="2554295"/>
            <a:ext cx="5368413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India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dominates with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8,652 restaurants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showing a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saturated market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Canada (4)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Qatar (20)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and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Singapore (20)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have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 competition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These countries offer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strong potential for new restaurant expansion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10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0245" y="1843088"/>
            <a:ext cx="5899356" cy="256889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AVERAGE NO. OF VOTES IN EACH COUNTRY</a:t>
            </a:r>
            <a:endParaRPr/>
          </a:p>
        </p:txBody>
      </p:sp>
      <p:sp>
        <p:nvSpPr>
          <p:cNvPr id="155" name="Google Shape;155;p11"/>
          <p:cNvSpPr txBox="1"/>
          <p:nvPr/>
        </p:nvSpPr>
        <p:spPr>
          <a:xfrm>
            <a:off x="442452" y="2277296"/>
            <a:ext cx="5240593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Indonesia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leads with the highest customer engagement —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772 votes per restaurant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UAE (493)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USA (428)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also show strong digital interaction.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India (137)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Canada (103)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have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 online engagement levels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Indicates that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customer participation is stronger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Indonesia, UAE, and the US compared to India and Canada.</a:t>
            </a:r>
            <a:endParaRPr/>
          </a:p>
        </p:txBody>
      </p:sp>
      <p:sp>
        <p:nvSpPr>
          <p:cNvPr id="156" name="Google Shape;156;p11"/>
          <p:cNvSpPr txBox="1"/>
          <p:nvPr/>
        </p:nvSpPr>
        <p:spPr>
          <a:xfrm>
            <a:off x="8243850" y="1987525"/>
            <a:ext cx="3975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11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2670" y="2085400"/>
            <a:ext cx="6204156" cy="383623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>
            <p:ph type="title"/>
          </p:nvPr>
        </p:nvSpPr>
        <p:spPr>
          <a:xfrm>
            <a:off x="757084" y="365125"/>
            <a:ext cx="1059671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SUGGESTED COUNTRIES TO OPEN     RESTAURANTS</a:t>
            </a:r>
            <a:endParaRPr/>
          </a:p>
        </p:txBody>
      </p:sp>
      <p:pic>
        <p:nvPicPr>
          <p:cNvPr id="163" name="Google Shape;163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89754" y="1924844"/>
            <a:ext cx="6508955" cy="3610717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2"/>
          <p:cNvSpPr txBox="1"/>
          <p:nvPr/>
        </p:nvSpPr>
        <p:spPr>
          <a:xfrm>
            <a:off x="147484" y="2277296"/>
            <a:ext cx="478831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Canada (4 restaurants)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lowest competition,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best market for expansion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Qatar (20 restaurants, average rating 4.06)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offers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premium growth opportunities.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Singapore (20 restaurants)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shows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moderate potential with steady demand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India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oversaturated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while these countries offer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untapped market potential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3"/>
          <p:cNvSpPr txBox="1"/>
          <p:nvPr>
            <p:ph type="title"/>
          </p:nvPr>
        </p:nvSpPr>
        <p:spPr>
          <a:xfrm>
            <a:off x="747252" y="365125"/>
            <a:ext cx="1060654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EXPENDITURE ON FOOD  </a:t>
            </a:r>
            <a:endParaRPr/>
          </a:p>
        </p:txBody>
      </p:sp>
      <p:sp>
        <p:nvSpPr>
          <p:cNvPr id="170" name="Google Shape;170;p13"/>
          <p:cNvSpPr txBox="1"/>
          <p:nvPr/>
        </p:nvSpPr>
        <p:spPr>
          <a:xfrm>
            <a:off x="314632" y="2282889"/>
            <a:ext cx="4670323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Singapore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shows the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highest food expenditure (~₹2.6 lakh)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indicating a premium market.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India, Brazil, Sri Lanka, and Canada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have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lower spending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showing budget-friendly markets.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spending gap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highlights lifestyle and income differences across countries.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High-spending countries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offer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better scope for premium restaurant expansion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pic>
        <p:nvPicPr>
          <p:cNvPr id="171" name="Google Shape;171;p13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7355" y="1857526"/>
            <a:ext cx="6902246" cy="319066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/>
          <p:cNvSpPr txBox="1"/>
          <p:nvPr>
            <p:ph type="title"/>
          </p:nvPr>
        </p:nvSpPr>
        <p:spPr>
          <a:xfrm>
            <a:off x="1015181" y="43395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TOP 10 CUISINES IN SUGGESTED COUNTRIES</a:t>
            </a:r>
            <a:endParaRPr/>
          </a:p>
        </p:txBody>
      </p:sp>
      <p:sp>
        <p:nvSpPr>
          <p:cNvPr id="177" name="Google Shape;177;p14"/>
          <p:cNvSpPr txBox="1"/>
          <p:nvPr/>
        </p:nvSpPr>
        <p:spPr>
          <a:xfrm>
            <a:off x="196646" y="2138797"/>
            <a:ext cx="5702710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 10 cuisines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suggested countries (Canada, Qatar, Singapore) show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strong customer preference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Chinese, Thai, Mughlai, Italian, and Bakery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dishes.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cuisines consistently maintain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average ratings (above 4.5)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reflecting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excellent customer satisfaction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Western-Asian and some American cuisines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received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lower ratings (&lt;3.5)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indicating limited appeal.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Focusing on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top-rated cuisines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can help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restaurants attract customers and ensure success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competitive markets.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14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1756" y="1911914"/>
            <a:ext cx="5987844" cy="37395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ANALYSIS OF ONLINE DELIVERY AND TABLE BOOKING</a:t>
            </a:r>
            <a:endParaRPr/>
          </a:p>
        </p:txBody>
      </p:sp>
      <p:sp>
        <p:nvSpPr>
          <p:cNvPr id="184" name="Google Shape;184;p15"/>
          <p:cNvSpPr txBox="1"/>
          <p:nvPr/>
        </p:nvSpPr>
        <p:spPr>
          <a:xfrm>
            <a:off x="838200" y="4495006"/>
            <a:ext cx="10665542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Online delivery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restaurants had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54.4% positive ratings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showing high demand for convenience.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 booking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services received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55.3% positive ratings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reflecting preference for premium dining,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Both services strongly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enhance customer satisfaction and engagement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New restaurants should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adopt online delivery and booking options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improve ratings and attract customers.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15" title="Chart"/>
          <p:cNvPicPr preferRelativeResize="0"/>
          <p:nvPr/>
        </p:nvPicPr>
        <p:blipFill rotWithShape="1">
          <a:blip r:embed="rId3">
            <a:alphaModFix/>
          </a:blip>
          <a:srcRect b="3880" l="-1200" r="1199" t="-3880"/>
          <a:stretch/>
        </p:blipFill>
        <p:spPr>
          <a:xfrm>
            <a:off x="1407075" y="2075800"/>
            <a:ext cx="4740874" cy="18366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6" name="Google Shape;186;p15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9275" y="2075800"/>
            <a:ext cx="4823575" cy="18366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RATING AND COUNT OF SUGGESTED COUNTRIES</a:t>
            </a:r>
            <a:endParaRPr/>
          </a:p>
        </p:txBody>
      </p:sp>
      <p:sp>
        <p:nvSpPr>
          <p:cNvPr id="192" name="Google Shape;192;p16"/>
          <p:cNvSpPr txBox="1"/>
          <p:nvPr/>
        </p:nvSpPr>
        <p:spPr>
          <a:xfrm>
            <a:off x="619432" y="2277296"/>
            <a:ext cx="4827639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Canada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Only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restaurants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with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potential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due to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 competition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Qatar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Around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 restaurants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with an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average rating of 4.06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showing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premium market quality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Singapore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Also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 restaurants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offering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moderate growth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balanced ratings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countries combine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 restaurant count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with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strong ratings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making them ideal for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Zomato’s expansion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pic>
        <p:nvPicPr>
          <p:cNvPr id="193" name="Google Shape;193;p16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9471" y="1843088"/>
            <a:ext cx="6440128" cy="280437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ANALYSIS OF PRICE RANGE </a:t>
            </a:r>
            <a:endParaRPr/>
          </a:p>
        </p:txBody>
      </p:sp>
      <p:pic>
        <p:nvPicPr>
          <p:cNvPr id="199" name="Google Shape;199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919305"/>
            <a:ext cx="10134600" cy="2731354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7"/>
          <p:cNvSpPr/>
          <p:nvPr/>
        </p:nvSpPr>
        <p:spPr>
          <a:xfrm>
            <a:off x="602900" y="4650659"/>
            <a:ext cx="11493849" cy="1754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 countries have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maximum restaurants in the lowest price range (≤₹250)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showing a focus on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budget-friendly dining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the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price range increases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the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number of restaurants decreases sharply.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High-price categories (&gt;₹1000)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are limited, indicating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premium restaurants are fewer but profitable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Overall, the chart reflects that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affordable dining dominates globally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while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luxury dining remains niche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8"/>
          <p:cNvSpPr txBox="1"/>
          <p:nvPr>
            <p:ph type="title"/>
          </p:nvPr>
        </p:nvSpPr>
        <p:spPr>
          <a:xfrm>
            <a:off x="3667432" y="365125"/>
            <a:ext cx="7686368" cy="7164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DASHBOARD </a:t>
            </a:r>
            <a:endParaRPr/>
          </a:p>
        </p:txBody>
      </p:sp>
      <p:pic>
        <p:nvPicPr>
          <p:cNvPr id="206" name="Google Shape;20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33948"/>
            <a:ext cx="11887199" cy="42416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9"/>
          <p:cNvSpPr txBox="1"/>
          <p:nvPr>
            <p:ph type="title"/>
          </p:nvPr>
        </p:nvSpPr>
        <p:spPr>
          <a:xfrm>
            <a:off x="1002890" y="365125"/>
            <a:ext cx="1035091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Effective Recommendations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Focus on </a:t>
            </a:r>
            <a:r>
              <a:rPr b="1" lang="en-US" sz="1800"/>
              <a:t>expanding in countries with low competition</a:t>
            </a:r>
            <a:r>
              <a:rPr lang="en-US" sz="1800"/>
              <a:t> and high growth potential like </a:t>
            </a:r>
            <a:r>
              <a:rPr b="1" lang="en-US" sz="1800"/>
              <a:t>Canada, Qatar, and Singapore</a:t>
            </a:r>
            <a:r>
              <a:rPr lang="en-US" sz="1800"/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Introduce both Online Delivery and Table Booking services</a:t>
            </a:r>
            <a:r>
              <a:rPr lang="en-US" sz="1800"/>
              <a:t> — these features strongly improve customer ratings and engagement.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 </a:t>
            </a:r>
            <a:r>
              <a:rPr b="1" lang="en-US" sz="1800"/>
              <a:t>Promote top-rated cuisines</a:t>
            </a:r>
            <a:r>
              <a:rPr lang="en-US" sz="1800"/>
              <a:t> such as </a:t>
            </a:r>
            <a:r>
              <a:rPr b="1" lang="en-US" sz="1800"/>
              <a:t>Chinese, Mughlai, Thai, Italian, and Bakery</a:t>
            </a:r>
            <a:r>
              <a:rPr lang="en-US" sz="1800"/>
              <a:t> to attract diverse customer groups.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 </a:t>
            </a:r>
            <a:r>
              <a:rPr b="1" lang="en-US" sz="1800"/>
              <a:t>Adopt data-driven pricing strategies</a:t>
            </a:r>
            <a:r>
              <a:rPr lang="en-US" sz="1800"/>
              <a:t> — maintain affordability in markets like India while offering premium options in countries like Qatar and Singapore.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 </a:t>
            </a:r>
            <a:r>
              <a:rPr b="1" lang="en-US" sz="1800"/>
              <a:t>Enhance digital engagement</a:t>
            </a:r>
            <a:r>
              <a:rPr lang="en-US" sz="1800"/>
              <a:t> through customer feedback, loyalty rewards, and active participation to strengthen brand trust.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 </a:t>
            </a:r>
            <a:r>
              <a:rPr b="1" lang="en-US" sz="1800"/>
              <a:t>Use clean data analytics dashboards</a:t>
            </a:r>
            <a:r>
              <a:rPr lang="en-US" sz="1800"/>
              <a:t> for continuous tracking of restaurant performance and customer satisfaction.</a:t>
            </a:r>
            <a:endParaRPr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0"/>
          <p:cNvSpPr txBox="1"/>
          <p:nvPr>
            <p:ph type="title"/>
          </p:nvPr>
        </p:nvSpPr>
        <p:spPr>
          <a:xfrm>
            <a:off x="924232" y="365125"/>
            <a:ext cx="1042956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Final Outcomes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Identified </a:t>
            </a:r>
            <a:r>
              <a:rPr b="1" lang="en-US" sz="2000"/>
              <a:t>top potential countries</a:t>
            </a:r>
            <a:r>
              <a:rPr lang="en-US" sz="2000"/>
              <a:t> for Zomato’s expansion — </a:t>
            </a:r>
            <a:r>
              <a:rPr b="1" lang="en-US" sz="2000"/>
              <a:t>Canada, Qatar, and Singapore</a:t>
            </a:r>
            <a:r>
              <a:rPr lang="en-US" sz="2000"/>
              <a:t>, offering low competition and strong market potential.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Determined </a:t>
            </a:r>
            <a:r>
              <a:rPr b="1" lang="en-US" sz="2000"/>
              <a:t>top-performing cuisines</a:t>
            </a:r>
            <a:r>
              <a:rPr lang="en-US" sz="2000"/>
              <a:t> like </a:t>
            </a:r>
            <a:r>
              <a:rPr b="1" lang="en-US" sz="2000"/>
              <a:t>Chinese, Mughlai, Thai, Italian, and Bakery</a:t>
            </a:r>
            <a:r>
              <a:rPr lang="en-US" sz="2000"/>
              <a:t>, ideal for attracting high ratings and customer loyalty.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 Found that </a:t>
            </a:r>
            <a:r>
              <a:rPr b="1" lang="en-US" sz="2000"/>
              <a:t>Online Delivery and Table Booking</a:t>
            </a:r>
            <a:r>
              <a:rPr lang="en-US" sz="2000"/>
              <a:t> services have a </a:t>
            </a:r>
            <a:r>
              <a:rPr b="1" lang="en-US" sz="2000"/>
              <a:t>positive impact on customer satisfaction and ratings</a:t>
            </a:r>
            <a:r>
              <a:rPr lang="en-US" sz="2000"/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 Analysis proved that </a:t>
            </a:r>
            <a:r>
              <a:rPr b="1" lang="en-US" sz="2000"/>
              <a:t>price range has minimal effect on ratings</a:t>
            </a:r>
            <a:r>
              <a:rPr lang="en-US" sz="2000"/>
              <a:t>, showing that </a:t>
            </a:r>
            <a:r>
              <a:rPr b="1" lang="en-US" sz="2000"/>
              <a:t>service quality and cuisine choice</a:t>
            </a:r>
            <a:r>
              <a:rPr lang="en-US" sz="2000"/>
              <a:t> matter more.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 Data insights help Zomato </a:t>
            </a:r>
            <a:r>
              <a:rPr b="1" lang="en-US" sz="2000"/>
              <a:t>plan strategic market entry</a:t>
            </a:r>
            <a:r>
              <a:rPr lang="en-US" sz="2000"/>
              <a:t> and </a:t>
            </a:r>
            <a:r>
              <a:rPr b="1" lang="en-US" sz="2000"/>
              <a:t>optimize restaurant openings</a:t>
            </a:r>
            <a:r>
              <a:rPr lang="en-US" sz="2000"/>
              <a:t> for higher profitability.</a:t>
            </a:r>
            <a:endParaRPr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Red">
      <a:dk1>
        <a:srgbClr val="000000"/>
      </a:dk1>
      <a:lt1>
        <a:srgbClr val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2025-11-12T07:29:13Z</dcterms:created>
  <dc:creator>Saurav Sharma</dc:creator>
</cp:coreProperties>
</file>